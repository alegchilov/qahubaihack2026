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10789" r:id="rId2"/>
    <p:sldId id="10786" r:id="rId3"/>
    <p:sldId id="10788" r:id="rId4"/>
    <p:sldId id="10790" r:id="rId5"/>
  </p:sldIdLst>
  <p:sldSz cx="12192000" cy="6858000"/>
  <p:notesSz cx="6858000" cy="9144000"/>
  <p:defaultTextStyle>
    <a:defPPr>
      <a:defRPr lang="en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B4D4E-5189-3640-8AD1-7B996071BAF1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DC3BC-575D-F046-A4B5-B94810D430FA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227067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82A5E-338A-39DE-6529-58C1E6C45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FF2F6-4EF9-BA4D-5849-1D6A6F570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DD19D-DF32-E885-E943-639B18061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60784-C9A6-B48D-DA47-9E355E0CF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A0C05-A6F2-4A48-B200-FA1D3DE0660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97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A0C05-A6F2-4A48-B200-FA1D3DE0660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143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87610-9F64-3FDF-3E82-5836CA2F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D006B-3A09-A94D-109D-AEAF1F4F0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5388E-F214-D97E-AA4A-2238A250E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C2AAE-B88F-4928-2A9C-92FBA4183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A0C05-A6F2-4A48-B200-FA1D3DE0660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84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F178-D04F-5FA9-095B-47794CD1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8762F-7D11-F264-A6EB-4BD756261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3FED4-86A6-6FF3-C15C-5168FC7CF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60E02-5740-B4EB-0D6C-306403CCC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A0C05-A6F2-4A48-B200-FA1D3DE0660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760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A99E3-EE4C-CE55-9753-CD355070B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39F35-D8D1-3A65-1785-6783080E3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D03A8-3FC2-2FA0-C61B-3FF58CFD6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866C6-5B63-454C-CFB0-3C62854BA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EE79B-D3B2-9063-FD07-7EA7A190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20623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CFAB6-A2CC-4B41-9691-1C223AB8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1EE3A-F76B-74BC-B6F3-E8CE64CCD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1066B-D43E-1895-8DEB-988E3018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EE1CD-478C-E9D2-33C9-065F69E5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EB8C-C4EF-B782-4623-F93FADEB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3804354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39D1-5780-F71D-08FE-FB3F0DBF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66671-7573-0175-B244-BAAF0E471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2395-B75C-5983-795C-FB2B94F16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AE91E-D241-D950-CDCB-4E5F2CB5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356DF-84E9-E794-DB8A-63838E04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31608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CA50-1A86-79DD-39E1-4EA97A05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1DDAE-31E3-403D-1665-4808FE131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749C2-902B-A08F-8FAD-A43DAA1A5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4C182-80B4-12BA-7DFE-6B2E0E48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0F53B-BA52-5A6D-E433-1634B9EDC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9F037-18DA-2F16-CB13-8520A750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257867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DEA2-B536-326A-401D-70D211D5D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F692F-F927-AB9C-91CE-DA0B630DD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CF71E-2FC5-3C50-6654-AF04AAA87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93DF0-1B01-6A92-88E6-27E1774CC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E9945A-DD8E-694C-94F0-4698359E7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2542D5-2451-9A21-57F3-59C2CDF5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2AB02-1B8A-B013-251C-572C4C38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70B1EA-3DA6-DFB4-E78B-73449E3C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318633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F31D-5943-A52E-9F61-FCCC7142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8A3E7-4983-4308-7804-78656B168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1C42B-C936-4BF2-34A5-31E98EE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9F754-8844-7911-0EEE-3C39959E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1846065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77E2E-C9A9-8D9D-A85B-56613913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490D5-EF90-EB7E-BE3F-6FE8213D7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56C45-584F-D6C5-8771-83CFF56E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125227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DA0D-5B44-978C-9980-6BB029F12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53CB7-54C5-5804-58BC-83B6F2FC9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A0EA5-5BD0-62D0-DF35-8E20C214D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DFE62-1538-788A-016C-37103D8B5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91B34-6640-3E93-14CF-05F20AD3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193FE-A4E5-3C43-F7A7-32142AEC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2359891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CB32-3B6D-C8D5-89A0-86ECCD50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472F3A-2C82-BDAD-DACE-45732B5F0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CB57F-2FE0-6C3A-5DCE-C6DF6FA1C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741C0-9F70-1506-A7C4-37F0B20A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3E099-3AE4-4C6D-6FA8-46F0C1F1D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FA572-DF6D-1FF5-FC8B-B687EDD1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357311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50357-37B3-E833-15E7-43187B0F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7DBAC-9C26-72EF-3CFD-37D784231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6AC0F-985D-45A1-0F0B-165AECAB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7FB65-EF96-1222-293B-3E145DA86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854AF-9E0B-8727-F1D0-519AC3EE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122063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66C3A9-8578-DD9B-3C8A-B34CBA7CB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EC0D6-891C-47B4-5A7A-A6AC6AF1E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CE444-A290-B9AF-C287-5AD72A1C1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51083-D1AE-4040-1563-99FD7E92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6513C-55E4-94D1-608F-FAE94FC0E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1971325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_Light-G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8849588-3964-452F-8424-AEC7C9F26E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BA10-B1F8-6997-AD70-9626FD7974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28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A320B-A221-616E-670D-453DF0739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374F1-9BB8-AB58-F8BD-E1804E2BA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0DF6A-B45F-1D16-CA08-47D9C8635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0B0BE-2227-A34A-9A49-0F748AF5B283}" type="datetimeFigureOut">
              <a:rPr lang="en-BY" smtClean="0"/>
              <a:t>14.04.2026</a:t>
            </a:fld>
            <a:endParaRPr lang="en-B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D4CF9-F329-1AA9-EA1B-BE55F5486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B6D07-03D2-A7F1-91CA-C32E9F27A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CD7EA-F3D4-3D47-8921-31A9E3C84294}" type="slidenum">
              <a:rPr lang="en-BY" smtClean="0"/>
              <a:t>‹#›</a:t>
            </a:fld>
            <a:endParaRPr lang="en-BY"/>
          </a:p>
        </p:txBody>
      </p:sp>
    </p:spTree>
    <p:extLst>
      <p:ext uri="{BB962C8B-B14F-4D97-AF65-F5344CB8AC3E}">
        <p14:creationId xmlns:p14="http://schemas.microsoft.com/office/powerpoint/2010/main" val="3936172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2652-3ADF-32A3-D4A0-5BB6093A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FF6C12-38E7-6B76-23C4-56439A77A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EPAM Proprietary &amp; Confidential.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280885D-D4F1-A958-6770-3DD9D27F3B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0400" y="496817"/>
            <a:ext cx="8113486" cy="1016432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>
                <a:solidFill>
                  <a:schemeClr val="accent4"/>
                </a:solidFill>
                <a:latin typeface="__Inter_d65c78"/>
                <a:cs typeface="Calibri" panose="020F0502020204030204" pitchFamily="34" charset="0"/>
              </a:rPr>
              <a:t>WHO: </a:t>
            </a:r>
            <a:r>
              <a:rPr lang="ru-RU" sz="4000" dirty="0">
                <a:solidFill>
                  <a:schemeClr val="accent4"/>
                </a:solidFill>
                <a:latin typeface="__Inter_d65c78"/>
                <a:cs typeface="Calibri" panose="020F0502020204030204" pitchFamily="34" charset="0"/>
              </a:rPr>
              <a:t> </a:t>
            </a:r>
            <a:r>
              <a:rPr lang="en-GB" sz="4000" dirty="0">
                <a:solidFill>
                  <a:schemeClr val="accent4"/>
                </a:solidFill>
                <a:latin typeface="__Inter_d65c78"/>
                <a:cs typeface="Calibri" panose="020F0502020204030204" pitchFamily="34" charset="0"/>
              </a:rPr>
              <a:t>Team </a:t>
            </a:r>
            <a:r>
              <a:rPr lang="en-GB" sz="4000" dirty="0" err="1">
                <a:solidFill>
                  <a:schemeClr val="accent4"/>
                </a:solidFill>
                <a:latin typeface="__Inter_d65c78"/>
                <a:cs typeface="Calibri" panose="020F0502020204030204" pitchFamily="34" charset="0"/>
              </a:rPr>
              <a:t>AsyncAwaitAdventurers</a:t>
            </a:r>
            <a:endParaRPr lang="en-US" sz="4000" dirty="0">
              <a:solidFill>
                <a:schemeClr val="accent4"/>
              </a:solidFill>
              <a:latin typeface="__Inter_d65c78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7F2290-9E6B-75D6-5A32-1EAB61DFBD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4668" y="2820541"/>
            <a:ext cx="4487332" cy="40374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37D9A0-4DB4-6780-C4FA-FA0533AE5B41}"/>
              </a:ext>
            </a:extLst>
          </p:cNvPr>
          <p:cNvSpPr txBox="1"/>
          <p:nvPr/>
        </p:nvSpPr>
        <p:spPr>
          <a:xfrm>
            <a:off x="3953601" y="4295680"/>
            <a:ext cx="2296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Alexandr Legchilov</a:t>
            </a:r>
            <a:endParaRPr lang="en-BY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93A72-F4BE-9247-AAB8-7E6D9A76C206}"/>
              </a:ext>
            </a:extLst>
          </p:cNvPr>
          <p:cNvSpPr txBox="1"/>
          <p:nvPr/>
        </p:nvSpPr>
        <p:spPr>
          <a:xfrm>
            <a:off x="1910411" y="5392174"/>
            <a:ext cx="775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 engineers who believe testing should be driven by intent, not boilerplate.</a:t>
            </a:r>
            <a:endParaRPr lang="en-BY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1F5AD-BC61-6FAF-6FD8-A5B450E61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5747" y="2969594"/>
            <a:ext cx="769194" cy="7691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78C642-29F9-CBAD-FA57-AE321D478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3876" y="1993824"/>
            <a:ext cx="769194" cy="7691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4BBCAC-A8E0-A235-51C9-72B936FF4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1305" y="3950363"/>
            <a:ext cx="769194" cy="7691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E40624-B3D6-AB18-E5ED-689E19E9EC56}"/>
              </a:ext>
            </a:extLst>
          </p:cNvPr>
          <p:cNvSpPr txBox="1"/>
          <p:nvPr/>
        </p:nvSpPr>
        <p:spPr>
          <a:xfrm>
            <a:off x="3977796" y="2420431"/>
            <a:ext cx="25762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Kiryl </a:t>
            </a:r>
            <a:r>
              <a:rPr lang="en-GB" sz="2000" dirty="0" err="1"/>
              <a:t>Bahdanets</a:t>
            </a:r>
            <a:endParaRPr lang="en-BY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BC034-612B-AA46-1F9F-7BB564E04FAE}"/>
              </a:ext>
            </a:extLst>
          </p:cNvPr>
          <p:cNvSpPr txBox="1"/>
          <p:nvPr/>
        </p:nvSpPr>
        <p:spPr>
          <a:xfrm>
            <a:off x="3981824" y="3378914"/>
            <a:ext cx="2391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Dzmitry </a:t>
            </a:r>
            <a:r>
              <a:rPr lang="en-GB" sz="2000" dirty="0" err="1"/>
              <a:t>Shaplyka</a:t>
            </a:r>
            <a:endParaRPr lang="en-BY" sz="2000" dirty="0"/>
          </a:p>
        </p:txBody>
      </p:sp>
    </p:spTree>
    <p:extLst>
      <p:ext uri="{BB962C8B-B14F-4D97-AF65-F5344CB8AC3E}">
        <p14:creationId xmlns:p14="http://schemas.microsoft.com/office/powerpoint/2010/main" val="63472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5CEB5-8B50-573A-A4F7-E452BCC9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84FB8-94E8-2B34-C374-E62238F7F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EPAM Proprietary &amp; Confidential.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2787814-00CA-8B39-5189-19D9C9C1D1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0719" y="306604"/>
            <a:ext cx="7885708" cy="2068002"/>
          </a:xfrm>
        </p:spPr>
        <p:txBody>
          <a:bodyPr/>
          <a:lstStyle/>
          <a:p>
            <a:pPr marL="0" indent="0">
              <a:buNone/>
            </a:pPr>
            <a:r>
              <a:rPr lang="en-GB" sz="4000" b="1" dirty="0">
                <a:solidFill>
                  <a:schemeClr val="accent4"/>
                </a:solidFill>
              </a:rPr>
              <a:t>WHAT: The Problem and Our Solution</a:t>
            </a:r>
            <a:endParaRPr lang="en-GB" sz="40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rgbClr val="4F93E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D1B4E-82B1-1474-AF58-F8A2D0BFA365}"/>
              </a:ext>
            </a:extLst>
          </p:cNvPr>
          <p:cNvSpPr txBox="1"/>
          <p:nvPr/>
        </p:nvSpPr>
        <p:spPr>
          <a:xfrm>
            <a:off x="1358017" y="1704849"/>
            <a:ext cx="101907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QA teams hit the same three-stage bottleneck: writing test cases, hand-coding, and maintaining it all.</a:t>
            </a:r>
          </a:p>
          <a:p>
            <a:endParaRPr lang="en-GB" dirty="0"/>
          </a:p>
          <a:p>
            <a:r>
              <a:rPr lang="en-GB" dirty="0"/>
              <a:t>We built </a:t>
            </a:r>
            <a:r>
              <a:rPr lang="en-GB" b="1" dirty="0"/>
              <a:t>Dark Factory </a:t>
            </a:r>
            <a:r>
              <a:rPr lang="en-GB" dirty="0"/>
              <a:t>— a framework that collapses this into one prompt.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BA678-F376-EE1E-CCBC-0326869C1B27}"/>
              </a:ext>
            </a:extLst>
          </p:cNvPr>
          <p:cNvSpPr txBox="1"/>
          <p:nvPr/>
        </p:nvSpPr>
        <p:spPr>
          <a:xfrm>
            <a:off x="1358017" y="2830340"/>
            <a:ext cx="675159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r>
              <a:rPr lang="en-GB" b="1" dirty="0"/>
              <a:t>Tech stack:</a:t>
            </a:r>
            <a:r>
              <a:rPr lang="en-GB" dirty="0"/>
              <a:t> Claude Code, Playwright, Playwright CLI</a:t>
            </a:r>
          </a:p>
          <a:p>
            <a:endParaRPr lang="en-GB" dirty="0"/>
          </a:p>
          <a:p>
            <a:r>
              <a:rPr lang="en-GB" b="1" dirty="0"/>
              <a:t>Why Claude Code?</a:t>
            </a:r>
            <a:r>
              <a:rPr lang="en-GB" dirty="0"/>
              <a:t> Three native capabilities no other tool offered:</a:t>
            </a:r>
          </a:p>
          <a:p>
            <a:endParaRPr lang="en-B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57BB3-6CE2-7634-D516-575647C38CA6}"/>
              </a:ext>
            </a:extLst>
          </p:cNvPr>
          <p:cNvSpPr txBox="1"/>
          <p:nvPr/>
        </p:nvSpPr>
        <p:spPr>
          <a:xfrm>
            <a:off x="1890714" y="4262186"/>
            <a:ext cx="84105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Multi-agent delegation</a:t>
            </a:r>
            <a:r>
              <a:rPr lang="en-GB" dirty="0"/>
              <a:t> — four agents defined in markdown, no external framework</a:t>
            </a:r>
          </a:p>
          <a:p>
            <a:r>
              <a:rPr lang="en-GB" b="1" dirty="0" err="1"/>
              <a:t>PostToolUse</a:t>
            </a:r>
            <a:r>
              <a:rPr lang="en-GB" b="1" dirty="0"/>
              <a:t> hooks</a:t>
            </a:r>
            <a:r>
              <a:rPr lang="en-GB" dirty="0"/>
              <a:t> — reactive automation triggered by file writes</a:t>
            </a:r>
          </a:p>
          <a:p>
            <a:r>
              <a:rPr lang="en-GB" b="1" dirty="0"/>
              <a:t>Skills</a:t>
            </a:r>
            <a:r>
              <a:rPr lang="en-GB" dirty="0"/>
              <a:t> — domain-specific tools scoped to each agent</a:t>
            </a:r>
          </a:p>
        </p:txBody>
      </p:sp>
    </p:spTree>
    <p:extLst>
      <p:ext uri="{BB962C8B-B14F-4D97-AF65-F5344CB8AC3E}">
        <p14:creationId xmlns:p14="http://schemas.microsoft.com/office/powerpoint/2010/main" val="278319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D804-8905-4BCE-3144-9975A1C8B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94B630-D137-ED32-D11A-6DCC7A50B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EPAM Proprietary &amp; Confidential.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FACA44C-C86B-A5DA-459D-16075CF57D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80806" y="76119"/>
            <a:ext cx="8001822" cy="2068002"/>
          </a:xfrm>
        </p:spPr>
        <p:txBody>
          <a:bodyPr/>
          <a:lstStyle/>
          <a:p>
            <a:pPr marL="0" indent="0">
              <a:buNone/>
            </a:pPr>
            <a:r>
              <a:rPr lang="en-GB" sz="4000" b="1" dirty="0">
                <a:solidFill>
                  <a:schemeClr val="accent4"/>
                </a:solidFill>
              </a:rPr>
              <a:t>WHAT: Architecture</a:t>
            </a:r>
            <a:endParaRPr lang="en-GB" sz="40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rgbClr val="4F93E5"/>
              </a:solidFill>
              <a:latin typeface="__Inter_d65c78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43181-623A-703C-869B-F07092BA9BE0}"/>
              </a:ext>
            </a:extLst>
          </p:cNvPr>
          <p:cNvSpPr txBox="1"/>
          <p:nvPr/>
        </p:nvSpPr>
        <p:spPr>
          <a:xfrm>
            <a:off x="639074" y="1046121"/>
            <a:ext cx="1058745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GB" sz="1600" dirty="0"/>
            </a:br>
            <a:r>
              <a:rPr lang="en-GB" sz="1600" b="1" dirty="0"/>
              <a:t>Four agents:</a:t>
            </a:r>
            <a:r>
              <a:rPr lang="en-GB" sz="1600" dirty="0"/>
              <a:t> Orchestrator delegates to three specialists;</a:t>
            </a:r>
            <a:br>
              <a:rPr lang="en-GB" sz="1600" dirty="0"/>
            </a:br>
            <a:r>
              <a:rPr lang="en-GB" sz="1600" dirty="0"/>
              <a:t>Test Cases Creator for UI, API Test Cases Creator for endpoints, and Playwright Healer for self-fixing failures.</a:t>
            </a:r>
            <a:br>
              <a:rPr lang="en-GB" sz="1600" dirty="0"/>
            </a:br>
            <a:endParaRPr lang="en-GB" sz="1600" dirty="0"/>
          </a:p>
          <a:p>
            <a:r>
              <a:rPr lang="en-GB" sz="1600" b="1" dirty="0"/>
              <a:t>Three skills:</a:t>
            </a:r>
            <a:r>
              <a:rPr lang="en-GB" sz="1600" dirty="0"/>
              <a:t> API Schema Reader minimizes a 41,000-line </a:t>
            </a:r>
            <a:r>
              <a:rPr lang="en-GB" sz="1600" dirty="0" err="1"/>
              <a:t>OpenAPI</a:t>
            </a:r>
            <a:r>
              <a:rPr lang="en-GB" sz="1600" dirty="0"/>
              <a:t> spec to 20 lines of context instead of 200. </a:t>
            </a:r>
            <a:br>
              <a:rPr lang="en-GB" sz="1600" dirty="0"/>
            </a:br>
            <a:r>
              <a:rPr lang="en-GB" sz="1600" dirty="0"/>
              <a:t>Playwright CLI drives browser automation. Playwright Healer enforces a 5-attempt fix cycle with mandatory escalation.</a:t>
            </a:r>
            <a:br>
              <a:rPr lang="en-GB" sz="1600" dirty="0"/>
            </a:br>
            <a:endParaRPr lang="en-GB" sz="1600" dirty="0"/>
          </a:p>
          <a:p>
            <a:r>
              <a:rPr lang="en-GB" sz="1600" b="1" dirty="0"/>
              <a:t>One hook</a:t>
            </a:r>
            <a:r>
              <a:rPr lang="en-GB" sz="1600" dirty="0"/>
              <a:t> closes the loop — writing a test case automatically triggers spec generation, execution, and healing. </a:t>
            </a:r>
            <a:br>
              <a:rPr lang="en-GB" sz="1600" dirty="0"/>
            </a:br>
            <a:r>
              <a:rPr lang="en-GB" sz="1600" dirty="0"/>
              <a:t>No manual steps.</a:t>
            </a:r>
            <a:br>
              <a:rPr lang="en-GB" sz="1600" dirty="0"/>
            </a:br>
            <a:endParaRPr lang="en-GB" sz="1600" dirty="0"/>
          </a:p>
          <a:p>
            <a:r>
              <a:rPr lang="en-GB" sz="1600" b="1" dirty="0"/>
              <a:t>The flow:</a:t>
            </a:r>
            <a:r>
              <a:rPr lang="en-GB" sz="1600" dirty="0"/>
              <a:t> Classify the request, extract the schema, generate test cases, implement the spec, heal failures.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9CE3C7-B8B0-2952-19AF-5054C68D5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18" y="3956909"/>
            <a:ext cx="9642962" cy="1841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1D9C9F-B48E-ED83-0C1C-E96133105EF2}"/>
              </a:ext>
            </a:extLst>
          </p:cNvPr>
          <p:cNvSpPr txBox="1"/>
          <p:nvPr/>
        </p:nvSpPr>
        <p:spPr>
          <a:xfrm>
            <a:off x="3506046" y="5871415"/>
            <a:ext cx="64422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One prompt in. Twenty passing tests out.</a:t>
            </a:r>
          </a:p>
          <a:p>
            <a:endParaRPr lang="en-BY" dirty="0"/>
          </a:p>
        </p:txBody>
      </p:sp>
    </p:spTree>
    <p:extLst>
      <p:ext uri="{BB962C8B-B14F-4D97-AF65-F5344CB8AC3E}">
        <p14:creationId xmlns:p14="http://schemas.microsoft.com/office/powerpoint/2010/main" val="1701052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236DC-D5A0-8568-A59C-C453B16A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82FBE-8EE4-7948-4D31-6414B5541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EPAM Proprietary &amp; Confidential.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8A33CF7-2173-00C5-80F6-9EA38C21DA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1434" y="228600"/>
            <a:ext cx="9482279" cy="2068002"/>
          </a:xfrm>
        </p:spPr>
        <p:txBody>
          <a:bodyPr/>
          <a:lstStyle/>
          <a:p>
            <a:pPr marL="0" indent="0">
              <a:buNone/>
            </a:pPr>
            <a:r>
              <a:rPr lang="en-GB" sz="4000" b="1" dirty="0">
                <a:solidFill>
                  <a:schemeClr val="accent4"/>
                </a:solidFill>
              </a:rPr>
              <a:t>WHY: Results and Benefits</a:t>
            </a:r>
            <a:endParaRPr lang="en-GB" sz="40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rgbClr val="4F93E5"/>
              </a:solidFill>
              <a:latin typeface="__Inter_d65c78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EEB480-E7F6-4455-9C13-26381558A56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4668" y="2820541"/>
            <a:ext cx="4487332" cy="40374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72D8B9-508F-59FA-43C7-8B4D0FCB6824}"/>
              </a:ext>
            </a:extLst>
          </p:cNvPr>
          <p:cNvSpPr txBox="1"/>
          <p:nvPr/>
        </p:nvSpPr>
        <p:spPr>
          <a:xfrm>
            <a:off x="1175656" y="1059543"/>
            <a:ext cx="1045786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GB" dirty="0"/>
            </a:br>
            <a:endParaRPr lang="en-GB" dirty="0"/>
          </a:p>
          <a:p>
            <a:r>
              <a:rPr lang="en-GB" b="1" dirty="0"/>
              <a:t>141 </a:t>
            </a:r>
            <a:r>
              <a:rPr lang="en-GB" dirty="0"/>
              <a:t>test cases | </a:t>
            </a:r>
            <a:r>
              <a:rPr lang="en-GB" b="1" dirty="0"/>
              <a:t>39</a:t>
            </a:r>
            <a:r>
              <a:rPr lang="en-GB" dirty="0"/>
              <a:t> automated specs | </a:t>
            </a:r>
            <a:r>
              <a:rPr lang="en-GB" b="1" dirty="0"/>
              <a:t>4</a:t>
            </a:r>
            <a:r>
              <a:rPr lang="en-GB" dirty="0"/>
              <a:t> agents | </a:t>
            </a:r>
            <a:r>
              <a:rPr lang="en-GB" b="1" dirty="0"/>
              <a:t>1</a:t>
            </a:r>
            <a:r>
              <a:rPr lang="en-GB" dirty="0"/>
              <a:t> hook | </a:t>
            </a:r>
            <a:r>
              <a:rPr lang="en-GB" b="1" dirty="0"/>
              <a:t>0</a:t>
            </a:r>
            <a:r>
              <a:rPr lang="en-GB" dirty="0"/>
              <a:t> lines written by a human</a:t>
            </a:r>
          </a:p>
          <a:p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Speed</a:t>
            </a:r>
            <a:r>
              <a:rPr lang="en-GB" dirty="0"/>
              <a:t> — days of QA work done in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Accuracy</a:t>
            </a:r>
            <a:r>
              <a:rPr lang="en-GB" dirty="0"/>
              <a:t> — test cases generated from the actual API spec, not outdated docs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Self-healing</a:t>
            </a:r>
            <a:r>
              <a:rPr lang="en-GB" dirty="0"/>
              <a:t> — broken tests get fixed automatically, or escalated with full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Target-agnostic</a:t>
            </a:r>
            <a:r>
              <a:rPr lang="en-GB" dirty="0"/>
              <a:t> — swap the API spec and context, test any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Zero overhead</a:t>
            </a:r>
            <a:r>
              <a:rPr lang="en-GB" dirty="0"/>
              <a:t> — no </a:t>
            </a:r>
            <a:r>
              <a:rPr lang="en-GB" dirty="0" err="1"/>
              <a:t>LangChain</a:t>
            </a:r>
            <a:r>
              <a:rPr lang="en-GB" dirty="0"/>
              <a:t>, no glue code, just markdown definitions and Claude Code's runtime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dirty="0"/>
              <a:t>QA has always been a downstream bottleneck. </a:t>
            </a:r>
            <a:r>
              <a:rPr lang="en-GB" b="1" dirty="0"/>
              <a:t>Dark Factory </a:t>
            </a:r>
            <a:r>
              <a:rPr lang="en-GB" dirty="0"/>
              <a:t>turns it into a prompt.</a:t>
            </a:r>
          </a:p>
          <a:p>
            <a:r>
              <a:rPr lang="en-GB" i="1" dirty="0"/>
              <a:t>*</a:t>
            </a:r>
            <a:r>
              <a:rPr lang="en-GB" i="1" dirty="0" err="1"/>
              <a:t>AsyncAwaitAdventurers</a:t>
            </a:r>
            <a:r>
              <a:rPr lang="en-GB" i="1" dirty="0"/>
              <a:t> — Built with Claude Code, 2026 AI Hackathon*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endParaRPr lang="en-BY" dirty="0"/>
          </a:p>
        </p:txBody>
      </p:sp>
    </p:spTree>
    <p:extLst>
      <p:ext uri="{BB962C8B-B14F-4D97-AF65-F5344CB8AC3E}">
        <p14:creationId xmlns:p14="http://schemas.microsoft.com/office/powerpoint/2010/main" val="3575929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393</Words>
  <Application>Microsoft Macintosh PowerPoint</Application>
  <PresentationFormat>Widescreen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__Inter_d65c78</vt:lpstr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Legchilov, Alexandr (external - Project)</dc:creator>
  <cp:lastModifiedBy>Legchilov, Alexandr (external - Project)</cp:lastModifiedBy>
  <cp:revision>1</cp:revision>
  <dcterms:created xsi:type="dcterms:W3CDTF">2026-04-14T14:31:37Z</dcterms:created>
  <dcterms:modified xsi:type="dcterms:W3CDTF">2026-04-14T18:07:10Z</dcterms:modified>
</cp:coreProperties>
</file>